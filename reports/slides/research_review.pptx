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baseline: commit 655ae1ecc2c9fc0aa80c828fe0303753296f66df. FEI run recorded base commit d1e4ceb3f975fb47d9a8321c47484bb1411f5239 with FEI additions uncommitted.</a:t>
            </a:r>
          </a:p>
          <a:p>
            <a:r>
              <a:t>Sources: experiments/cross_dataset_key_pool_summary.csv; experiments/fei_multiexposure/README.md; experiments/mobio_mechanism_controls/results_summary.csv; experiments/mobio_correlation_controls/results_summary.csv.</a:t>
            </a:r>
          </a:p>
          <a:p>
            <a:r>
              <a:t>Configuration: configs/attacks/fei_key_pool_boundary.yaml. See reports/figures/README.md for figure captions and docs/ROADMAP.md for pending gates. Diagram symbols are schematic, not biometric examples.</a:t>
            </a:r>
          </a:p>
          <a:p>
            <a:r>
              <a:t>New pilot code freeze: d5f4e89. Configuration: configs/attacks/scheme_extension_pilot.yaml. Sources: experiments/scheme_extension_pilot/{results_summary,paired_uncertainty,equivalence_sensitivity,native_utility}.csv. SCface protocol and pilot freeze: 69a93e4; sources under experiments/scface_multiexposure and experiments/scface_scheme_extension_pilot. One-seed CPU pilots, 120-epoch cap; not a controlled ranking against earlier 400-epoch, three-seed studies. See figure_appendix.pdf for all figures, including native matching and uncertainty. Follow-up: experiments/scheme_followup_2026-09-18; 216 endpoints, two identity partitions, three model seeds. Pre-execution source/config hashes: execution_manifest.json; base commit 4352eeb, dirty working tree recorded. Primary sign-flip tests: Holm family 8; native gallery-label permutations: Holm family 12. Independent-pool follow-up: experiments/pool_replication_2026-09-19; 24 cells, 144 fits, 72 prediction-mean evaluations; source snapshots and input hashes recorded. Three-pool intervals are pointwise, not corrected significance tests. Full-text comparison uses the author's thesis section 5.4.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baseline: commit 655ae1ecc2c9fc0aa80c828fe0303753296f66df. FEI run recorded base commit d1e4ceb3f975fb47d9a8321c47484bb1411f5239 with FEI additions uncommitted.</a:t>
            </a:r>
          </a:p>
          <a:p>
            <a:r>
              <a:t>Sources: experiments/cross_dataset_key_pool_summary.csv; experiments/fei_multiexposure/README.md; experiments/mobio_mechanism_controls/results_summary.csv; experiments/mobio_correlation_controls/results_summary.csv.</a:t>
            </a:r>
          </a:p>
          <a:p>
            <a:r>
              <a:t>Configuration: configs/attacks/fei_key_pool_boundary.yaml. See reports/figures/README.md for figure captions and docs/ROADMAP.md for pending gates. Diagram symbols are schematic, not biometric examples.</a:t>
            </a:r>
          </a:p>
          <a:p>
            <a:r>
              <a:t>New pilot code freeze: d5f4e89. Configuration: configs/attacks/scheme_extension_pilot.yaml. Sources: experiments/scheme_extension_pilot/{results_summary,paired_uncertainty,equivalence_sensitivity,native_utility}.csv. SCface protocol and pilot freeze: 69a93e4; sources under experiments/scface_multiexposure and experiments/scface_scheme_extension_pilot. One-seed CPU pilots, 120-epoch cap; not a controlled ranking against earlier 400-epoch, three-seed studies. See figure_appendix.pdf for all figures, including native matching and uncertainty. Follow-up: experiments/scheme_followup_2026-09-18; 216 endpoints, two identity partitions, three model seeds. Pre-execution source/config hashes: execution_manifest.json; base commit 4352eeb, dirty working tree recorded. Primary sign-flip tests: Holm family 8; native gallery-label permutations: Holm family 12. Independent-pool follow-up: experiments/pool_replication_2026-09-19; 24 cells, 144 fits, 72 prediction-mean evaluations; source snapshots and input hashes recorded. Three-pool intervals are pointwise, not corrected significance tests. Full-text comparison uses the author's thesis section 5.4.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baseline: commit 655ae1ecc2c9fc0aa80c828fe0303753296f66df. FEI run recorded base commit d1e4ceb3f975fb47d9a8321c47484bb1411f5239 with FEI additions uncommitted.</a:t>
            </a:r>
          </a:p>
          <a:p>
            <a:r>
              <a:t>Sources: experiments/cross_dataset_key_pool_summary.csv; experiments/fei_multiexposure/README.md; experiments/mobio_mechanism_controls/results_summary.csv; experiments/mobio_correlation_controls/results_summary.csv.</a:t>
            </a:r>
          </a:p>
          <a:p>
            <a:r>
              <a:t>Configuration: configs/attacks/fei_key_pool_boundary.yaml. See reports/figures/README.md for figure captions and docs/ROADMAP.md for pending gates. Diagram symbols are schematic, not biometric examples.</a:t>
            </a:r>
          </a:p>
          <a:p>
            <a:r>
              <a:t>New pilot code freeze: d5f4e89. Configuration: configs/attacks/scheme_extension_pilot.yaml. Sources: experiments/scheme_extension_pilot/{results_summary,paired_uncertainty,equivalence_sensitivity,native_utility}.csv. SCface protocol and pilot freeze: 69a93e4; sources under experiments/scface_multiexposure and experiments/scface_scheme_extension_pilot. One-seed CPU pilots, 120-epoch cap; not a controlled ranking against earlier 400-epoch, three-seed studies. See figure_appendix.pdf for all figures, including native matching and uncertainty. Follow-up: experiments/scheme_followup_2026-09-18; 216 endpoints, two identity partitions, three model seeds. Pre-execution source/config hashes: execution_manifest.json; base commit 4352eeb, dirty working tree recorded. Primary sign-flip tests: Holm family 8; native gallery-label permutations: Holm family 12. Independent-pool follow-up: experiments/pool_replication_2026-09-19; 24 cells, 144 fits, 72 prediction-mean evaluations; source snapshots and input hashes recorded. Three-pool intervals are pointwise, not corrected significance tests. Full-text comparison uses the author's thesis section 5.4.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baseline: commit 655ae1ecc2c9fc0aa80c828fe0303753296f66df. FEI run recorded base commit d1e4ceb3f975fb47d9a8321c47484bb1411f5239 with FEI additions uncommitted.</a:t>
            </a:r>
          </a:p>
          <a:p>
            <a:r>
              <a:t>Sources: experiments/cross_dataset_key_pool_summary.csv; experiments/fei_multiexposure/README.md; experiments/mobio_mechanism_controls/results_summary.csv; experiments/mobio_correlation_controls/results_summary.csv.</a:t>
            </a:r>
          </a:p>
          <a:p>
            <a:r>
              <a:t>Configuration: configs/attacks/fei_key_pool_boundary.yaml. See reports/figures/README.md for figure captions and docs/ROADMAP.md for pending gates. Diagram symbols are schematic, not biometric examples.</a:t>
            </a:r>
          </a:p>
          <a:p>
            <a:r>
              <a:t>New pilot code freeze: d5f4e89. Configuration: configs/attacks/scheme_extension_pilot.yaml. Sources: experiments/scheme_extension_pilot/{results_summary,paired_uncertainty,equivalence_sensitivity,native_utility}.csv. SCface protocol and pilot freeze: 69a93e4; sources under experiments/scface_multiexposure and experiments/scface_scheme_extension_pilot. One-seed CPU pilots, 120-epoch cap; not a controlled ranking against earlier 400-epoch, three-seed studies. See figure_appendix.pdf for all figures, including native matching and uncertainty. Follow-up: experiments/scheme_followup_2026-09-18; 216 endpoints, two identity partitions, three model seeds. Pre-execution source/config hashes: execution_manifest.json; base commit 4352eeb, dirty working tree recorded. Primary sign-flip tests: Holm family 8; native gallery-label permutations: Holm family 12. Independent-pool follow-up: experiments/pool_replication_2026-09-19; 24 cells, 144 fits, 72 prediction-mean evaluations; source snapshots and input hashes recorded. Three-pool intervals are pointwise, not corrected significance tests. Full-text comparison uses the author's thesis section 5.4.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baseline: commit 655ae1ecc2c9fc0aa80c828fe0303753296f66df. FEI run recorded base commit d1e4ceb3f975fb47d9a8321c47484bb1411f5239 with FEI additions uncommitted.</a:t>
            </a:r>
          </a:p>
          <a:p>
            <a:r>
              <a:t>Sources: experiments/cross_dataset_key_pool_summary.csv; experiments/fei_multiexposure/README.md; experiments/mobio_mechanism_controls/results_summary.csv; experiments/mobio_correlation_controls/results_summary.csv.</a:t>
            </a:r>
          </a:p>
          <a:p>
            <a:r>
              <a:t>Configuration: configs/attacks/fei_key_pool_boundary.yaml. See reports/figures/README.md for figure captions and docs/ROADMAP.md for pending gates. Diagram symbols are schematic, not biometric examples.</a:t>
            </a:r>
          </a:p>
          <a:p>
            <a:r>
              <a:t>New pilot code freeze: d5f4e89. Configuration: configs/attacks/scheme_extension_pilot.yaml. Sources: experiments/scheme_extension_pilot/{results_summary,paired_uncertainty,equivalence_sensitivity,native_utility}.csv. SCface protocol and pilot freeze: 69a93e4; sources under experiments/scface_multiexposure and experiments/scface_scheme_extension_pilot. One-seed CPU pilots, 120-epoch cap; not a controlled ranking against earlier 400-epoch, three-seed studies. See figure_appendix.pdf for all figures, including native matching and uncertainty. Follow-up: experiments/scheme_followup_2026-09-18; 216 endpoints, two identity partitions, three model seeds. Pre-execution source/config hashes: execution_manifest.json; base commit 4352eeb, dirty working tree recorded. Primary sign-flip tests: Holm family 8; native gallery-label permutations: Holm family 12. Independent-pool follow-up: experiments/pool_replication_2026-09-19; 24 cells, 144 fits, 72 prediction-mean evaluations; source snapshots and input hashes recorded. Three-pool intervals are pointwise, not corrected significance tests. Full-text comparison uses the author's thesis section 5.4.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baseline: commit 655ae1ecc2c9fc0aa80c828fe0303753296f66df. FEI run recorded base commit d1e4ceb3f975fb47d9a8321c47484bb1411f5239 with FEI additions uncommitted.</a:t>
            </a:r>
          </a:p>
          <a:p>
            <a:r>
              <a:t>Sources: experiments/cross_dataset_key_pool_summary.csv; experiments/fei_multiexposure/README.md; experiments/mobio_mechanism_controls/results_summary.csv; experiments/mobio_correlation_controls/results_summary.csv.</a:t>
            </a:r>
          </a:p>
          <a:p>
            <a:r>
              <a:t>Configuration: configs/attacks/fei_key_pool_boundary.yaml. See reports/figures/README.md for figure captions and docs/ROADMAP.md for pending gates. Diagram symbols are schematic, not biometric examples.</a:t>
            </a:r>
          </a:p>
          <a:p>
            <a:r>
              <a:t>New pilot code freeze: d5f4e89. Configuration: configs/attacks/scheme_extension_pilot.yaml. Sources: experiments/scheme_extension_pilot/{results_summary,paired_uncertainty,equivalence_sensitivity,native_utility}.csv. SCface protocol and pilot freeze: 69a93e4; sources under experiments/scface_multiexposure and experiments/scface_scheme_extension_pilot. One-seed CPU pilots, 120-epoch cap; not a controlled ranking against earlier 400-epoch, three-seed studies. See figure_appendix.pdf for all figures, including native matching and uncertainty. Follow-up: experiments/scheme_followup_2026-09-18; 216 endpoints, two identity partitions, three model seeds. Pre-execution source/config hashes: execution_manifest.json; base commit 4352eeb, dirty working tree recorded. Primary sign-flip tests: Holm family 8; native gallery-label permutations: Holm family 12. Independent-pool follow-up: experiments/pool_replication_2026-09-19; 24 cells, 144 fits, 72 prediction-mean evaluations; source snapshots and input hashes recorded. Three-pool intervals are pointwise, not corrected significance tests. Full-text comparison uses the author's thesis section 5.4.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baseline: commit 655ae1ecc2c9fc0aa80c828fe0303753296f66df. FEI run recorded base commit d1e4ceb3f975fb47d9a8321c47484bb1411f5239 with FEI additions uncommitted.</a:t>
            </a:r>
          </a:p>
          <a:p>
            <a:r>
              <a:t>Sources: experiments/cross_dataset_key_pool_summary.csv; experiments/fei_multiexposure/README.md; experiments/mobio_mechanism_controls/results_summary.csv; experiments/mobio_correlation_controls/results_summary.csv.</a:t>
            </a:r>
          </a:p>
          <a:p>
            <a:r>
              <a:t>Configuration: configs/attacks/fei_key_pool_boundary.yaml. See reports/figures/README.md for figure captions and docs/ROADMAP.md for pending gates. Diagram symbols are schematic, not biometric examples.</a:t>
            </a:r>
          </a:p>
          <a:p>
            <a:r>
              <a:t>New pilot code freeze: d5f4e89. Configuration: configs/attacks/scheme_extension_pilot.yaml. Sources: experiments/scheme_extension_pilot/{results_summary,paired_uncertainty,equivalence_sensitivity,native_utility}.csv. SCface protocol and pilot freeze: 69a93e4; sources under experiments/scface_multiexposure and experiments/scface_scheme_extension_pilot. One-seed CPU pilots, 120-epoch cap; not a controlled ranking against earlier 400-epoch, three-seed studies. See figure_appendix.pdf for all figures, including native matching and uncertainty. Follow-up: experiments/scheme_followup_2026-09-18; 216 endpoints, two identity partitions, three model seeds. Pre-execution source/config hashes: execution_manifest.json; base commit 4352eeb, dirty working tree recorded. Primary sign-flip tests: Holm family 8; native gallery-label permutations: Holm family 12. Independent-pool follow-up: experiments/pool_replication_2026-09-19; 24 cells, 144 fits, 72 prediction-mean evaluations; source snapshots and input hashes recorded. Three-pool intervals are pointwise, not corrected significance tests. Full-text comparison uses the author's thesis section 5.4.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baseline: commit 655ae1ecc2c9fc0aa80c828fe0303753296f66df. FEI run recorded base commit d1e4ceb3f975fb47d9a8321c47484bb1411f5239 with FEI additions uncommitted.</a:t>
            </a:r>
          </a:p>
          <a:p>
            <a:r>
              <a:t>Sources: experiments/cross_dataset_key_pool_summary.csv; experiments/fei_multiexposure/README.md; experiments/mobio_mechanism_controls/results_summary.csv; experiments/mobio_correlation_controls/results_summary.csv.</a:t>
            </a:r>
          </a:p>
          <a:p>
            <a:r>
              <a:t>Configuration: configs/attacks/fei_key_pool_boundary.yaml. See reports/figures/README.md for figure captions and docs/ROADMAP.md for pending gates. Diagram symbols are schematic, not biometric examples.</a:t>
            </a:r>
          </a:p>
          <a:p>
            <a:r>
              <a:t>New pilot code freeze: d5f4e89. Configuration: configs/attacks/scheme_extension_pilot.yaml. Sources: experiments/scheme_extension_pilot/{results_summary,paired_uncertainty,equivalence_sensitivity,native_utility}.csv. SCface protocol and pilot freeze: 69a93e4; sources under experiments/scface_multiexposure and experiments/scface_scheme_extension_pilot. One-seed CPU pilots, 120-epoch cap; not a controlled ranking against earlier 400-epoch, three-seed studies. See figure_appendix.pdf for all figures, including native matching and uncertainty. Follow-up: experiments/scheme_followup_2026-09-18; 216 endpoints, two identity partitions, three model seeds. Pre-execution source/config hashes: execution_manifest.json; base commit 4352eeb, dirty working tree recorded. Primary sign-flip tests: Holm family 8; native gallery-label permutations: Holm family 12. Independent-pool follow-up: experiments/pool_replication_2026-09-19; 24 cells, 144 fits, 72 prediction-mean evaluations; source snapshots and input hashes recorded. Three-pool intervals are pointwise, not corrected significance tests. Full-text comparison uses the author's thesis section 5.4.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baseline: commit 655ae1ecc2c9fc0aa80c828fe0303753296f66df. FEI run recorded base commit d1e4ceb3f975fb47d9a8321c47484bb1411f5239 with FEI additions uncommitted.</a:t>
            </a:r>
          </a:p>
          <a:p>
            <a:r>
              <a:t>Sources: experiments/cross_dataset_key_pool_summary.csv; experiments/fei_multiexposure/README.md; experiments/mobio_mechanism_controls/results_summary.csv; experiments/mobio_correlation_controls/results_summary.csv.</a:t>
            </a:r>
          </a:p>
          <a:p>
            <a:r>
              <a:t>Configuration: configs/attacks/fei_key_pool_boundary.yaml. See reports/figures/README.md for figure captions and docs/ROADMAP.md for pending gates. Diagram symbols are schematic, not biometric examples.</a:t>
            </a:r>
          </a:p>
          <a:p>
            <a:r>
              <a:t>New pilot code freeze: d5f4e89. Configuration: configs/attacks/scheme_extension_pilot.yaml. Sources: experiments/scheme_extension_pilot/{results_summary,paired_uncertainty,equivalence_sensitivity,native_utility}.csv. SCface protocol and pilot freeze: 69a93e4; sources under experiments/scface_multiexposure and experiments/scface_scheme_extension_pilot. One-seed CPU pilots, 120-epoch cap; not a controlled ranking against earlier 400-epoch, three-seed studies. See figure_appendix.pdf for all figures, including native matching and uncertainty. Follow-up: experiments/scheme_followup_2026-09-18; 216 endpoints, two identity partitions, three model seeds. Pre-execution source/config hashes: execution_manifest.json; base commit 4352eeb, dirty working tree recorded. Primary sign-flip tests: Holm family 8; native gallery-label permutations: Holm family 12. Independent-pool follow-up: experiments/pool_replication_2026-09-19; 24 cells, 144 fits, 72 prediction-mean evaluations; source snapshots and input hashes recorded. Three-pool intervals are pointwise, not corrected significance tests. Full-text comparison uses the author's thesis section 5.4.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baseline: commit 655ae1ecc2c9fc0aa80c828fe0303753296f66df. FEI run recorded base commit d1e4ceb3f975fb47d9a8321c47484bb1411f5239 with FEI additions uncommitted.</a:t>
            </a:r>
          </a:p>
          <a:p>
            <a:r>
              <a:t>Sources: experiments/cross_dataset_key_pool_summary.csv; experiments/fei_multiexposure/README.md; experiments/mobio_mechanism_controls/results_summary.csv; experiments/mobio_correlation_controls/results_summary.csv.</a:t>
            </a:r>
          </a:p>
          <a:p>
            <a:r>
              <a:t>Configuration: configs/attacks/fei_key_pool_boundary.yaml. See reports/figures/README.md for figure captions and docs/ROADMAP.md for pending gates. Diagram symbols are schematic, not biometric examples.</a:t>
            </a:r>
          </a:p>
          <a:p>
            <a:r>
              <a:t>New pilot code freeze: d5f4e89. Configuration: configs/attacks/scheme_extension_pilot.yaml. Sources: experiments/scheme_extension_pilot/{results_summary,paired_uncertainty,equivalence_sensitivity,native_utility}.csv. SCface protocol and pilot freeze: 69a93e4; sources under experiments/scface_multiexposure and experiments/scface_scheme_extension_pilot. One-seed CPU pilots, 120-epoch cap; not a controlled ranking against earlier 400-epoch, three-seed studies. See figure_appendix.pdf for all figures, including native matching and uncertainty. Follow-up: experiments/scheme_followup_2026-09-18; 216 endpoints, two identity partitions, three model seeds. Pre-execution source/config hashes: execution_manifest.json; base commit 4352eeb, dirty working tree recorded. Primary sign-flip tests: Holm family 8; native gallery-label permutations: Holm family 12. Independent-pool follow-up: experiments/pool_replication_2026-09-19; 24 cells, 144 fits, 72 prediction-mean evaluations; source snapshots and input hashes recorded. Three-pool intervals are pointwise, not corrected significance tests. Full-text comparison uses the author's thesis section 5.4.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baseline: commit 655ae1ecc2c9fc0aa80c828fe0303753296f66df. FEI run recorded base commit d1e4ceb3f975fb47d9a8321c47484bb1411f5239 with FEI additions uncommitted.</a:t>
            </a:r>
          </a:p>
          <a:p>
            <a:r>
              <a:t>Sources: experiments/cross_dataset_key_pool_summary.csv; experiments/fei_multiexposure/README.md; experiments/mobio_mechanism_controls/results_summary.csv; experiments/mobio_correlation_controls/results_summary.csv.</a:t>
            </a:r>
          </a:p>
          <a:p>
            <a:r>
              <a:t>Configuration: configs/attacks/fei_key_pool_boundary.yaml. See reports/figures/README.md for figure captions and docs/ROADMAP.md for pending gates. Diagram symbols are schematic, not biometric examples.</a:t>
            </a:r>
          </a:p>
          <a:p>
            <a:r>
              <a:t>New pilot code freeze: d5f4e89. Configuration: configs/attacks/scheme_extension_pilot.yaml. Sources: experiments/scheme_extension_pilot/{results_summary,paired_uncertainty,equivalence_sensitivity,native_utility}.csv. SCface protocol and pilot freeze: 69a93e4; sources under experiments/scface_multiexposure and experiments/scface_scheme_extension_pilot. One-seed CPU pilots, 120-epoch cap; not a controlled ranking against earlier 400-epoch, three-seed studies. See figure_appendix.pdf for all figures, including native matching and uncertainty. Follow-up: experiments/scheme_followup_2026-09-18; 216 endpoints, two identity partitions, three model seeds. Pre-execution source/config hashes: execution_manifest.json; base commit 4352eeb, dirty working tree recorded. Primary sign-flip tests: Holm family 8; native gallery-label permutations: Holm family 12. Independent-pool follow-up: experiments/pool_replication_2026-09-19; 24 cells, 144 fits, 72 prediction-mean evaluations; source snapshots and input hashes recorded. Three-pool intervals are pointwise, not corrected significance tests. Full-text comparison uses the author's thesis section 5.4.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baseline: commit 655ae1ecc2c9fc0aa80c828fe0303753296f66df. FEI run recorded base commit d1e4ceb3f975fb47d9a8321c47484bb1411f5239 with FEI additions uncommitted.</a:t>
            </a:r>
          </a:p>
          <a:p>
            <a:r>
              <a:t>Sources: experiments/cross_dataset_key_pool_summary.csv; experiments/fei_multiexposure/README.md; experiments/mobio_mechanism_controls/results_summary.csv; experiments/mobio_correlation_controls/results_summary.csv.</a:t>
            </a:r>
          </a:p>
          <a:p>
            <a:r>
              <a:t>Configuration: configs/attacks/fei_key_pool_boundary.yaml. See reports/figures/README.md for figure captions and docs/ROADMAP.md for pending gates. Diagram symbols are schematic, not biometric examples.</a:t>
            </a:r>
          </a:p>
          <a:p>
            <a:r>
              <a:t>New pilot code freeze: d5f4e89. Configuration: configs/attacks/scheme_extension_pilot.yaml. Sources: experiments/scheme_extension_pilot/{results_summary,paired_uncertainty,equivalence_sensitivity,native_utility}.csv. SCface protocol and pilot freeze: 69a93e4; sources under experiments/scface_multiexposure and experiments/scface_scheme_extension_pilot. One-seed CPU pilots, 120-epoch cap; not a controlled ranking against earlier 400-epoch, three-seed studies. See figure_appendix.pdf for all figures, including native matching and uncertainty. Follow-up: experiments/scheme_followup_2026-09-18; 216 endpoints, two identity partitions, three model seeds. Pre-execution source/config hashes: execution_manifest.json; base commit 4352eeb, dirty working tree recorded. Primary sign-flip tests: Holm family 8; native gallery-label permutations: Holm family 12. Independent-pool follow-up: experiments/pool_replication_2026-09-19; 24 cells, 144 fits, 72 prediction-mean evaluations; source snapshots and input hashes recorded. Three-pool intervals are pointwise, not corrected significance tests. Full-text comparison uses the author's thesis section 5.4.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baseline: commit 655ae1ecc2c9fc0aa80c828fe0303753296f66df. FEI run recorded base commit d1e4ceb3f975fb47d9a8321c47484bb1411f5239 with FEI additions uncommitted.</a:t>
            </a:r>
          </a:p>
          <a:p>
            <a:r>
              <a:t>Sources: experiments/cross_dataset_key_pool_summary.csv; experiments/fei_multiexposure/README.md; experiments/mobio_mechanism_controls/results_summary.csv; experiments/mobio_correlation_controls/results_summary.csv.</a:t>
            </a:r>
          </a:p>
          <a:p>
            <a:r>
              <a:t>Configuration: configs/attacks/fei_key_pool_boundary.yaml. See reports/figures/README.md for figure captions and docs/ROADMAP.md for pending gates. Diagram symbols are schematic, not biometric examples.</a:t>
            </a:r>
          </a:p>
          <a:p>
            <a:r>
              <a:t>New pilot code freeze: d5f4e89. Configuration: configs/attacks/scheme_extension_pilot.yaml. Sources: experiments/scheme_extension_pilot/{results_summary,paired_uncertainty,equivalence_sensitivity,native_utility}.csv. SCface protocol and pilot freeze: 69a93e4; sources under experiments/scface_multiexposure and experiments/scface_scheme_extension_pilot. One-seed CPU pilots, 120-epoch cap; not a controlled ranking against earlier 400-epoch, three-seed studies. See figure_appendix.pdf for all figures, including native matching and uncertainty. Follow-up: experiments/scheme_followup_2026-09-18; 216 endpoints, two identity partitions, three model seeds. Pre-execution source/config hashes: execution_manifest.json; base commit 4352eeb, dirty working tree recorded. Primary sign-flip tests: Holm family 8; native gallery-label permutations: Holm family 12. Independent-pool follow-up: experiments/pool_replication_2026-09-19; 24 cells, 144 fits, 72 prediction-mean evaluations; source snapshots and input hashes recorded. Three-pool intervals are pointwise, not corrected significance tests. Full-text comparison uses the author's thesis section 5.4.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baseline: commit 655ae1ecc2c9fc0aa80c828fe0303753296f66df. FEI run recorded base commit d1e4ceb3f975fb47d9a8321c47484bb1411f5239 with FEI additions uncommitted.</a:t>
            </a:r>
          </a:p>
          <a:p>
            <a:r>
              <a:t>Sources: experiments/cross_dataset_key_pool_summary.csv; experiments/fei_multiexposure/README.md; experiments/mobio_mechanism_controls/results_summary.csv; experiments/mobio_correlation_controls/results_summary.csv.</a:t>
            </a:r>
          </a:p>
          <a:p>
            <a:r>
              <a:t>Configuration: configs/attacks/fei_key_pool_boundary.yaml. See reports/figures/README.md for figure captions and docs/ROADMAP.md for pending gates. Diagram symbols are schematic, not biometric examples.</a:t>
            </a:r>
          </a:p>
          <a:p>
            <a:r>
              <a:t>New pilot code freeze: d5f4e89. Configuration: configs/attacks/scheme_extension_pilot.yaml. Sources: experiments/scheme_extension_pilot/{results_summary,paired_uncertainty,equivalence_sensitivity,native_utility}.csv. SCface protocol and pilot freeze: 69a93e4; sources under experiments/scface_multiexposure and experiments/scface_scheme_extension_pilot. One-seed CPU pilots, 120-epoch cap; not a controlled ranking against earlier 400-epoch, three-seed studies. See figure_appendix.pdf for all figures, including native matching and uncertainty. Follow-up: experiments/scheme_followup_2026-09-18; 216 endpoints, two identity partitions, three model seeds. Pre-execution source/config hashes: execution_manifest.json; base commit 4352eeb, dirty working tree recorded. Primary sign-flip tests: Holm family 8; native gallery-label permutations: Holm family 12. Independent-pool follow-up: experiments/pool_replication_2026-09-19; 24 cells, 144 fits, 72 prediction-mean evaluations; source snapshots and input hashes recorded. Three-pool intervals are pointwise, not corrected significance tests. Full-text comparison uses the author's thesis section 5.4.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baseline: commit 655ae1ecc2c9fc0aa80c828fe0303753296f66df. FEI run recorded base commit d1e4ceb3f975fb47d9a8321c47484bb1411f5239 with FEI additions uncommitted.</a:t>
            </a:r>
          </a:p>
          <a:p>
            <a:r>
              <a:t>Sources: experiments/cross_dataset_key_pool_summary.csv; experiments/fei_multiexposure/README.md; experiments/mobio_mechanism_controls/results_summary.csv; experiments/mobio_correlation_controls/results_summary.csv.</a:t>
            </a:r>
          </a:p>
          <a:p>
            <a:r>
              <a:t>Configuration: configs/attacks/fei_key_pool_boundary.yaml. See reports/figures/README.md for figure captions and docs/ROADMAP.md for pending gates. Diagram symbols are schematic, not biometric examples.</a:t>
            </a:r>
          </a:p>
          <a:p>
            <a:r>
              <a:t>New pilot code freeze: d5f4e89. Configuration: configs/attacks/scheme_extension_pilot.yaml. Sources: experiments/scheme_extension_pilot/{results_summary,paired_uncertainty,equivalence_sensitivity,native_utility}.csv. SCface protocol and pilot freeze: 69a93e4; sources under experiments/scface_multiexposure and experiments/scface_scheme_extension_pilot. One-seed CPU pilots, 120-epoch cap; not a controlled ranking against earlier 400-epoch, three-seed studies. See figure_appendix.pdf for all figures, including native matching and uncertainty. Follow-up: experiments/scheme_followup_2026-09-18; 216 endpoints, two identity partitions, three model seeds. Pre-execution source/config hashes: execution_manifest.json; base commit 4352eeb, dirty working tree recorded. Primary sign-flip tests: Holm family 8; native gallery-label permutations: Holm family 12. Independent-pool follow-up: experiments/pool_replication_2026-09-19; 24 cells, 144 fits, 72 prediction-mean evaluations; source snapshots and input hashes recorded. Three-pool intervals are pointwise, not corrected significance tests. Full-text comparison uses the author's thesis section 5.4.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2500" b="1">
                <a:solidFill>
                  <a:srgbClr val="222222"/>
                </a:solidFill>
                <a:latin typeface="Times New Roman"/>
              </a:defRPr>
            </a:pPr>
            <a:r>
              <a:t>Hidden keys and repeated biometric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64808"/>
            <a:ext cx="11064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Times New Roman"/>
              </a:defRPr>
            </a:pPr>
            <a:r>
              <a:t>Research review draft | 19 September 2026 | 1/15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2000" b="0">
                <a:solidFill>
                  <a:srgbClr val="222222"/>
                </a:solidFill>
                <a:latin typeface="Times New Roman"/>
              </a:defRPr>
            </a:pPr>
            <a:r>
              <a:t>Can multiple protected records reveal identity when keys remain hidden?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1064240" cy="2834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900" b="0">
                <a:solidFill>
                  <a:srgbClr val="222222"/>
                </a:solidFill>
                <a:latin typeface="Times New Roman"/>
              </a:defRPr>
            </a:pPr>
            <a:r>
              <a:t>Fresh-key learned attacks: uncertainty remains; no equivalence claim.</a:t>
            </a:r>
          </a:p>
          <a:p>
            <a:pPr>
              <a:lnSpc>
                <a:spcPct val="140000"/>
              </a:lnSpc>
              <a:spcAft>
                <a:spcPts val="0"/>
              </a:spcAft>
              <a:defRPr sz="1900" b="0">
                <a:solidFill>
                  <a:srgbClr val="222222"/>
                </a:solidFill>
                <a:latin typeface="Times New Roman"/>
              </a:defRPr>
            </a:pPr>
          </a:p>
          <a:p>
            <a:pPr>
              <a:lnSpc>
                <a:spcPct val="140000"/>
              </a:lnSpc>
              <a:spcAft>
                <a:spcPts val="0"/>
              </a:spcAft>
              <a:defRPr sz="1900" b="0">
                <a:solidFill>
                  <a:srgbClr val="222222"/>
                </a:solidFill>
                <a:latin typeface="Times New Roman"/>
              </a:defRPr>
            </a:pPr>
            <a:r>
              <a:t>Recurring transforms: large gains from multiple same-identity records.</a:t>
            </a:r>
          </a:p>
          <a:p>
            <a:pPr>
              <a:lnSpc>
                <a:spcPct val="140000"/>
              </a:lnSpc>
              <a:spcAft>
                <a:spcPts val="0"/>
              </a:spcAft>
              <a:defRPr sz="1900" b="0">
                <a:solidFill>
                  <a:srgbClr val="222222"/>
                </a:solidFill>
                <a:latin typeface="Times New Roman"/>
              </a:defRPr>
            </a:pPr>
          </a:p>
          <a:p>
            <a:pPr>
              <a:lnSpc>
                <a:spcPct val="140000"/>
              </a:lnSpc>
              <a:spcAft>
                <a:spcPts val="0"/>
              </a:spcAft>
              <a:defRPr sz="1900" b="0">
                <a:solidFill>
                  <a:srgbClr val="222222"/>
                </a:solidFill>
                <a:latin typeface="Times New Roman"/>
              </a:defRPr>
            </a:pPr>
            <a:r>
              <a:t>Pool draws matter; a simple prediction-mean baseline is competitive.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300" b="0">
                <a:solidFill>
                  <a:srgbClr val="222222"/>
                </a:solidFill>
                <a:latin typeface="Times New Roman"/>
              </a:defRPr>
            </a:pPr>
            <a:r>
              <a:t>New: 672 MOBIO/SCface endpoints, raw-input retraining and a local stricter-selection audit.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2500" b="1">
                <a:solidFill>
                  <a:srgbClr val="222222"/>
                </a:solidFill>
                <a:latin typeface="Times New Roman"/>
              </a:defRPr>
            </a:pPr>
            <a:r>
              <a:t>Experimental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64808"/>
            <a:ext cx="11064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Times New Roman"/>
              </a:defRPr>
            </a:pPr>
            <a:r>
              <a:t>Research review draft | 19 September 2026 | 2/15</a:t>
            </a:r>
          </a:p>
        </p:txBody>
      </p:sp>
      <p:pic>
        <p:nvPicPr>
          <p:cNvPr id="4" name="Picture 3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757" y="960120"/>
            <a:ext cx="8266004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16752"/>
            <a:ext cx="110642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222222"/>
                </a:solidFill>
                <a:latin typeface="Times New Roman"/>
              </a:defRPr>
            </a:pPr>
            <a:r>
              <a:t>Train on separate identities. Reconstruct an embedding, then link to a held-out gallery.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2500" b="1">
                <a:solidFill>
                  <a:srgbClr val="222222"/>
                </a:solidFill>
                <a:latin typeface="Times New Roman"/>
              </a:defRPr>
            </a:pPr>
            <a:r>
              <a:t>Dataset and protection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64808"/>
            <a:ext cx="11064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Times New Roman"/>
              </a:defRPr>
            </a:pPr>
            <a:r>
              <a:t>Research review draft | 19 September 2026 | 3/15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645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1">
                <a:solidFill>
                  <a:srgbClr val="222222"/>
                </a:solidFill>
                <a:latin typeface="Times New Roman"/>
              </a:defRPr>
            </a:pPr>
            <a: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371600"/>
            <a:ext cx="1645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1">
                <a:solidFill>
                  <a:srgbClr val="222222"/>
                </a:solidFill>
                <a:latin typeface="Times New Roman"/>
              </a:defRPr>
            </a:pPr>
            <a:r>
              <a:t>Identities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371600"/>
            <a:ext cx="21031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1">
                <a:solidFill>
                  <a:srgbClr val="222222"/>
                </a:solidFill>
                <a:latin typeface="Times New Roman"/>
              </a:defRPr>
            </a:pPr>
            <a:r>
              <a:t>Train/val/test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24688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1">
                <a:solidFill>
                  <a:srgbClr val="222222"/>
                </a:solidFill>
                <a:latin typeface="Times New Roman"/>
              </a:defRPr>
            </a:pPr>
            <a:r>
              <a:t>Embeddings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371600"/>
            <a:ext cx="24688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1">
                <a:solidFill>
                  <a:srgbClr val="222222"/>
                </a:solidFill>
                <a:latin typeface="Times New Roman"/>
              </a:defRPr>
            </a:pPr>
            <a:r>
              <a:t>Variation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645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0">
                <a:solidFill>
                  <a:srgbClr val="222222"/>
                </a:solidFill>
                <a:latin typeface="Times New Roman"/>
              </a:defRPr>
            </a:pPr>
            <a:r>
              <a:t>MOBIO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828800"/>
            <a:ext cx="1645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0">
                <a:solidFill>
                  <a:srgbClr val="222222"/>
                </a:solidFill>
                <a:latin typeface="Times New Roman"/>
              </a:defRPr>
            </a:pPr>
            <a:r>
              <a:t>150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828800"/>
            <a:ext cx="21031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0">
                <a:solidFill>
                  <a:srgbClr val="222222"/>
                </a:solidFill>
                <a:latin typeface="Times New Roman"/>
              </a:defRPr>
            </a:pPr>
            <a:r>
              <a:t>90/30/30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24688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0">
                <a:solidFill>
                  <a:srgbClr val="222222"/>
                </a:solidFill>
                <a:latin typeface="Times New Roman"/>
              </a:defRPr>
            </a:pPr>
            <a:r>
              <a:t>1,799 / 1,800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828800"/>
            <a:ext cx="24688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0">
                <a:solidFill>
                  <a:srgbClr val="222222"/>
                </a:solidFill>
                <a:latin typeface="Times New Roman"/>
              </a:defRPr>
            </a:pPr>
            <a:r>
              <a:t>Sessions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1645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0">
                <a:solidFill>
                  <a:srgbClr val="222222"/>
                </a:solidFill>
                <a:latin typeface="Times New Roman"/>
              </a:defRPr>
            </a:pPr>
            <a:r>
              <a:t>LFW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286000"/>
            <a:ext cx="1645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0">
                <a:solidFill>
                  <a:srgbClr val="222222"/>
                </a:solidFill>
                <a:latin typeface="Times New Roman"/>
              </a:defRPr>
            </a:pPr>
            <a:r>
              <a:t>125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286000"/>
            <a:ext cx="21031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0">
                <a:solidFill>
                  <a:srgbClr val="222222"/>
                </a:solidFill>
                <a:latin typeface="Times New Roman"/>
              </a:defRPr>
            </a:pPr>
            <a:r>
              <a:t>75/25/25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86000"/>
            <a:ext cx="24688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0">
                <a:solidFill>
                  <a:srgbClr val="222222"/>
                </a:solidFill>
                <a:latin typeface="Times New Roman"/>
              </a:defRPr>
            </a:pPr>
            <a:r>
              <a:t>1,500 / 1,500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286000"/>
            <a:ext cx="24688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0">
                <a:solidFill>
                  <a:srgbClr val="222222"/>
                </a:solidFill>
                <a:latin typeface="Times New Roman"/>
              </a:defRPr>
            </a:pPr>
            <a:r>
              <a:t>In-the-wild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743200"/>
            <a:ext cx="1645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0">
                <a:solidFill>
                  <a:srgbClr val="222222"/>
                </a:solidFill>
                <a:latin typeface="Times New Roman"/>
              </a:defRPr>
            </a:pPr>
            <a:r>
              <a:t>FEI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743200"/>
            <a:ext cx="1645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0">
                <a:solidFill>
                  <a:srgbClr val="222222"/>
                </a:solidFill>
                <a:latin typeface="Times New Roman"/>
              </a:defRPr>
            </a:pPr>
            <a:r>
              <a:t>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743200"/>
            <a:ext cx="21031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0">
                <a:solidFill>
                  <a:srgbClr val="222222"/>
                </a:solidFill>
                <a:latin typeface="Times New Roman"/>
              </a:defRPr>
            </a:pPr>
            <a:r>
              <a:t>120/40/40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743200"/>
            <a:ext cx="24688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0">
                <a:solidFill>
                  <a:srgbClr val="222222"/>
                </a:solidFill>
                <a:latin typeface="Times New Roman"/>
              </a:defRPr>
            </a:pPr>
            <a:r>
              <a:t>2,378 / 2,400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743200"/>
            <a:ext cx="24688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0">
                <a:solidFill>
                  <a:srgbClr val="222222"/>
                </a:solidFill>
                <a:latin typeface="Times New Roman"/>
              </a:defRPr>
            </a:pPr>
            <a:r>
              <a:t>Pose/expression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1645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0">
                <a:solidFill>
                  <a:srgbClr val="222222"/>
                </a:solidFill>
                <a:latin typeface="Times New Roman"/>
              </a:defRPr>
            </a:pPr>
            <a:r>
              <a:t>SCface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200400"/>
            <a:ext cx="1645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0">
                <a:solidFill>
                  <a:srgbClr val="222222"/>
                </a:solidFill>
                <a:latin typeface="Times New Roman"/>
              </a:defRPr>
            </a:pPr>
            <a:r>
              <a:t>130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200400"/>
            <a:ext cx="21031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0">
                <a:solidFill>
                  <a:srgbClr val="222222"/>
                </a:solidFill>
                <a:latin typeface="Times New Roman"/>
              </a:defRPr>
            </a:pPr>
            <a:r>
              <a:t>78/26/26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200400"/>
            <a:ext cx="24688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0">
                <a:solidFill>
                  <a:srgbClr val="222222"/>
                </a:solidFill>
                <a:latin typeface="Times New Roman"/>
              </a:defRPr>
            </a:pPr>
            <a:r>
              <a:t>2,851 / 2,860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200400"/>
            <a:ext cx="24688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500" b="0">
                <a:solidFill>
                  <a:srgbClr val="222222"/>
                </a:solidFill>
                <a:latin typeface="Times New Roman"/>
              </a:defRPr>
            </a:pPr>
            <a:r>
              <a:t>Camera/distance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794760"/>
            <a:ext cx="11064240" cy="1691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600" b="0">
                <a:solidFill>
                  <a:srgbClr val="222222"/>
                </a:solidFill>
                <a:latin typeface="Times New Roman"/>
              </a:defRPr>
            </a:pPr>
            <a:r>
              <a:t>BioHash: 128 bits; four datasets; includes a Haar-sign control on MOBIO.</a:t>
            </a:r>
          </a:p>
          <a:p>
            <a:pPr>
              <a:lnSpc>
                <a:spcPct val="140000"/>
              </a:lnSpc>
              <a:spcAft>
                <a:spcPts val="0"/>
              </a:spcAft>
              <a:defRPr sz="1600" b="0">
                <a:solidFill>
                  <a:srgbClr val="222222"/>
                </a:solidFill>
                <a:latin typeface="Times New Roman"/>
              </a:defRPr>
            </a:pPr>
            <a:r>
              <a:t>MLP-Hash: 512 bits; MOBIO; paper-specified, not source-exact.</a:t>
            </a:r>
          </a:p>
          <a:p>
            <a:pPr>
              <a:lnSpc>
                <a:spcPct val="140000"/>
              </a:lnSpc>
              <a:spcAft>
                <a:spcPts val="0"/>
              </a:spcAft>
              <a:defRPr sz="1600" b="0">
                <a:solidFill>
                  <a:srgbClr val="222222"/>
                </a:solidFill>
                <a:latin typeface="Times New Roman"/>
              </a:defRPr>
            </a:pPr>
            <a:r>
              <a:t>IoM-GRP: 300 codes (q=16); PolyProtect: 170 reals (m=5, overlap=2).</a:t>
            </a:r>
          </a:p>
          <a:p>
            <a:pPr>
              <a:lnSpc>
                <a:spcPct val="140000"/>
              </a:lnSpc>
              <a:spcAft>
                <a:spcPts val="0"/>
              </a:spcAft>
              <a:defRPr sz="1600" b="0">
                <a:solidFill>
                  <a:srgbClr val="222222"/>
                </a:solidFill>
                <a:latin typeface="Times New Roman"/>
              </a:defRPr>
            </a:pPr>
            <a:r>
              <a:t>Both: MOBIO/FEI original follow-up; MOBIO/SCface extended follow-up.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300" b="0">
                <a:solidFill>
                  <a:srgbClr val="222222"/>
                </a:solidFill>
                <a:latin typeface="Times New Roman"/>
              </a:defRPr>
            </a:pPr>
            <a:r>
              <a:t>SCface: mugshot gallery and visible surveillance probes; 9 detection failures, all identities eligible.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2500" b="1">
                <a:solidFill>
                  <a:srgbClr val="222222"/>
                </a:solidFill>
                <a:latin typeface="Times New Roman"/>
              </a:defRPr>
            </a:pPr>
            <a:r>
              <a:t>Set reconstruction and gallery linkage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64808"/>
            <a:ext cx="11064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Times New Roman"/>
              </a:defRPr>
            </a:pPr>
            <a:r>
              <a:t>Research review draft | 19 September 2026 | 4/15</a:t>
            </a:r>
          </a:p>
        </p:txBody>
      </p:sp>
      <p:pic>
        <p:nvPicPr>
          <p:cNvPr id="4" name="Picture 3" descr="fig_attack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798" y="960120"/>
            <a:ext cx="8041922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16752"/>
            <a:ext cx="110642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222222"/>
                </a:solidFill>
                <a:latin typeface="Times New Roman"/>
              </a:defRPr>
            </a:pPr>
            <a:r>
              <a:t>Two aggregation paths; shared training objective; held-out identity linkage. Key values remain hidden.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2500" b="1">
                <a:solidFill>
                  <a:srgbClr val="222222"/>
                </a:solidFill>
                <a:latin typeface="Times New Roman"/>
              </a:defRPr>
            </a:pPr>
            <a:r>
              <a:t>Earlier three-seed key-pool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64808"/>
            <a:ext cx="11064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Times New Roman"/>
              </a:defRPr>
            </a:pPr>
            <a:r>
              <a:t>Research review draft | 19 September 2026 | 5/15</a:t>
            </a:r>
          </a:p>
        </p:txBody>
      </p:sp>
      <p:pic>
        <p:nvPicPr>
          <p:cNvPr id="4" name="Picture 3" descr="fig_result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610" y="960120"/>
            <a:ext cx="951230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16752"/>
            <a:ext cx="110642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222222"/>
                </a:solidFill>
                <a:latin typeface="Times New Roman"/>
              </a:defRPr>
            </a:pPr>
            <a:r>
              <a:t>73 conditions from 12 earlier studies. New one-seed pilots are reported separately.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2500" b="1">
                <a:solidFill>
                  <a:srgbClr val="222222"/>
                </a:solidFill>
                <a:latin typeface="Times New Roman"/>
              </a:defRPr>
            </a:pPr>
            <a:r>
              <a:t>Mechanism and correlation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64808"/>
            <a:ext cx="11064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Times New Roman"/>
              </a:defRPr>
            </a:pPr>
            <a:r>
              <a:t>Research review draft | 19 September 2026 | 6/15</a:t>
            </a:r>
          </a:p>
        </p:txBody>
      </p:sp>
      <p:pic>
        <p:nvPicPr>
          <p:cNvPr id="4" name="Picture 3" descr="fig_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04039"/>
            <a:ext cx="11064240" cy="40042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16752"/>
            <a:ext cx="110642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222222"/>
                </a:solidFill>
                <a:latin typeface="Times New Roman"/>
              </a:defRPr>
            </a:pPr>
            <a:r>
              <a:t>Slot identifiers are not key values. Coarse and fine correlation sweeps use separate partitions.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2500" b="1">
                <a:solidFill>
                  <a:srgbClr val="222222"/>
                </a:solidFill>
                <a:latin typeface="Times New Roman"/>
              </a:defRPr>
            </a:pPr>
            <a:r>
              <a:t>Replicated multi-record amplification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64808"/>
            <a:ext cx="11064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Times New Roman"/>
              </a:defRPr>
            </a:pPr>
            <a:r>
              <a:t>Research review draft | 19 September 2026 | 7/15</a:t>
            </a:r>
          </a:p>
        </p:txBody>
      </p:sp>
      <p:pic>
        <p:nvPicPr>
          <p:cNvPr id="4" name="Picture 3" descr="fig_followup_ampl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18" y="960120"/>
            <a:ext cx="10273284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16752"/>
            <a:ext cx="110642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222222"/>
                </a:solidFill>
                <a:latin typeface="Times New Roman"/>
              </a:defRPr>
            </a:pPr>
            <a:r>
              <a:t>MOBIO / FEI; IoM-GRP / PolyProtect; 3 model seeds x 2 identity partitions; matched 120-epoch caps.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2500" b="1">
                <a:solidFill>
                  <a:srgbClr val="222222"/>
                </a:solidFill>
                <a:latin typeface="Times New Roman"/>
              </a:defRPr>
            </a:pPr>
            <a:r>
              <a:t>Native linkage and radial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64808"/>
            <a:ext cx="11064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Times New Roman"/>
              </a:defRPr>
            </a:pPr>
            <a:r>
              <a:t>Research review draft | 19 September 2026 | 8/15</a:t>
            </a:r>
          </a:p>
        </p:txBody>
      </p:sp>
      <p:pic>
        <p:nvPicPr>
          <p:cNvPr id="4" name="Picture 3" descr="fig_followup_native_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82544"/>
            <a:ext cx="11064240" cy="48471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16752"/>
            <a:ext cx="110642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222222"/>
                </a:solidFill>
                <a:latin typeface="Times New Roman"/>
              </a:defRPr>
            </a:pPr>
            <a:r>
              <a:t>Protected-gallery matching is distinct from learned linkage. Radial sensitivity does not establish natural norm leakage.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2500" b="1">
                <a:solidFill>
                  <a:srgbClr val="222222"/>
                </a:solidFill>
                <a:latin typeface="Times New Roman"/>
              </a:defRPr>
            </a:pPr>
            <a:r>
              <a:t>Genuine raw-input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64808"/>
            <a:ext cx="11064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Times New Roman"/>
              </a:defRPr>
            </a:pPr>
            <a:r>
              <a:t>Research review draft | 19 September 2026 | 9/15</a:t>
            </a:r>
          </a:p>
        </p:txBody>
      </p:sp>
      <p:pic>
        <p:nvPicPr>
          <p:cNvPr id="4" name="Picture 3" descr="fig_native_norm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82544"/>
            <a:ext cx="11064240" cy="48471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16752"/>
            <a:ext cx="110642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222222"/>
                </a:solidFill>
                <a:latin typeface="Times New Roman"/>
              </a:defRPr>
            </a:pPr>
            <a:r>
              <a:t>Earlier native audit, not learned retraining. New raw learned and local stricter-selection results appear on slides 14-15.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2500" b="1">
                <a:solidFill>
                  <a:srgbClr val="222222"/>
                </a:solidFill>
                <a:latin typeface="Times New Roman"/>
              </a:defRPr>
            </a:pPr>
            <a:r>
              <a:t>Failure analysis: aggregation is not always better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64808"/>
            <a:ext cx="11064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Times New Roman"/>
              </a:defRPr>
            </a:pPr>
            <a:r>
              <a:t>Research review draft | 19 September 2026 | 10/15</a:t>
            </a:r>
          </a:p>
        </p:txBody>
      </p:sp>
      <p:pic>
        <p:nvPicPr>
          <p:cNvPr id="4" name="Picture 3" descr="fig_followup_fail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836" y="960120"/>
            <a:ext cx="10071847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16752"/>
            <a:ext cx="110642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222222"/>
                </a:solidFill>
                <a:latin typeface="Times New Roman"/>
              </a:defRPr>
            </a:pPr>
            <a:r>
              <a:t>Original primary family unchanged. All 48 contrasts, including significant losses, are reported separately from historical exploration.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2500" b="1">
                <a:solidFill>
                  <a:srgbClr val="222222"/>
                </a:solidFill>
                <a:latin typeface="Times New Roman"/>
              </a:defRPr>
            </a:pPr>
            <a:r>
              <a:t>Four datasets, distinct evidence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64808"/>
            <a:ext cx="11064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Times New Roman"/>
              </a:defRPr>
            </a:pPr>
            <a:r>
              <a:t>Research review draft | 19 September 2026 | 11/15</a:t>
            </a:r>
          </a:p>
        </p:txBody>
      </p:sp>
      <p:pic>
        <p:nvPicPr>
          <p:cNvPr id="4" name="Picture 3" descr="fig_dataset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397" y="960120"/>
            <a:ext cx="8420724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16752"/>
            <a:ext cx="110642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222222"/>
                </a:solidFill>
                <a:latin typeface="Times New Roman"/>
              </a:defRPr>
            </a:pPr>
            <a:r>
              <a:t>SCface now has a three-seed/two-partition exposure study. LFW remains historical; missing cells are not zero accuracy.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2500" b="1">
                <a:solidFill>
                  <a:srgbClr val="222222"/>
                </a:solidFill>
                <a:latin typeface="Times New Roman"/>
              </a:defRPr>
            </a:pPr>
            <a:r>
              <a:t>Independent pools and a matched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64808"/>
            <a:ext cx="11064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Times New Roman"/>
              </a:defRPr>
            </a:pPr>
            <a:r>
              <a:t>Research review draft | 19 September 2026 | 12/15</a:t>
            </a:r>
          </a:p>
        </p:txBody>
      </p:sp>
      <p:pic>
        <p:nvPicPr>
          <p:cNvPr id="4" name="Picture 3" descr="fig_pool_re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871" y="960120"/>
            <a:ext cx="9691777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16752"/>
            <a:ext cx="110642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222222"/>
                </a:solidFill>
                <a:latin typeface="Times New Roman"/>
              </a:defRPr>
            </a:pPr>
            <a:r>
              <a:t>Three new pool draws: IoM gains persist; PolyProtect is variable. Input-pooling superiority is not established.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2500" b="1">
                <a:solidFill>
                  <a:srgbClr val="222222"/>
                </a:solidFill>
                <a:latin typeface="Times New Roman"/>
              </a:defRPr>
            </a:pPr>
            <a:r>
              <a:t>Extended exposures: MOBIO and SCface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64808"/>
            <a:ext cx="11064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Times New Roman"/>
              </a:defRPr>
            </a:pPr>
            <a:r>
              <a:t>Research review draft | 19 September 2026 | 13/15</a:t>
            </a:r>
          </a:p>
        </p:txBody>
      </p:sp>
      <p:pic>
        <p:nvPicPr>
          <p:cNvPr id="4" name="Picture 3" descr="fig_extended_expos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487" y="960120"/>
            <a:ext cx="9208545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16752"/>
            <a:ext cx="110642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222222"/>
                </a:solidFill>
                <a:latin typeface="Times New Roman"/>
              </a:defRPr>
            </a:pPr>
            <a:r>
              <a:t>672 endpoints; eight primary gains pass Holm correction. Larger pools do not guarantee lower observed linkage.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2500" b="1">
                <a:solidFill>
                  <a:srgbClr val="222222"/>
                </a:solidFill>
                <a:latin typeface="Times New Roman"/>
              </a:defRPr>
            </a:pPr>
            <a:r>
              <a:t>Learned attacks on raw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64808"/>
            <a:ext cx="11064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Times New Roman"/>
              </a:defRPr>
            </a:pPr>
            <a:r>
              <a:t>Research review draft | 19 September 2026 | 14/15</a:t>
            </a:r>
          </a:p>
        </p:txBody>
      </p:sp>
      <p:pic>
        <p:nvPicPr>
          <p:cNvPr id="4" name="Picture 3" descr="fig_raw_lear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91" y="960120"/>
            <a:ext cx="10701337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16752"/>
            <a:ext cx="110642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222222"/>
                </a:solidFill>
                <a:latin typeface="Times New Roman"/>
              </a:defRPr>
            </a:pPr>
            <a:r>
              <a:t>Separate descriptive study: bars are seed SD, not confidence intervals. No matched raw-versus-unit causal test.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2500" b="1">
                <a:solidFill>
                  <a:srgbClr val="222222"/>
                </a:solidFill>
                <a:latin typeface="Times New Roman"/>
              </a:defRPr>
            </a:pPr>
            <a:r>
              <a:t>Local stricter PolyProtect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64808"/>
            <a:ext cx="11064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Times New Roman"/>
              </a:defRPr>
            </a:pPr>
            <a:r>
              <a:t>Research review draft | 19 September 2026 | 15/15</a:t>
            </a:r>
          </a:p>
        </p:txBody>
      </p:sp>
      <p:pic>
        <p:nvPicPr>
          <p:cNvPr id="4" name="Picture 3" descr="fig_stricter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45978"/>
            <a:ext cx="11064240" cy="43203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16752"/>
            <a:ext cx="110642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222222"/>
                </a:solidFill>
                <a:latin typeface="Times New Roman"/>
              </a:defRPr>
            </a:pPr>
            <a:r>
              <a:t>No corrected reduction from this local selection rule; not a source-exact refutation of the original policy.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Hidden keys and repeated biometric records</dc:title>
  <dc:subject>Research review draft, 2026-09-19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