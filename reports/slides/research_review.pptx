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baseline: commit 655ae1ecc2c9fc0aa80c828fe0303753296f66df. FEI run recorded base commit d1e4ceb3f975fb47d9a8321c47484bb1411f5239 with FEI additions uncommitted.</a:t>
            </a:r>
          </a:p>
          <a:p>
            <a:r>
              <a:t>Sources: experiments/cross_dataset_key_pool_summary.csv; experiments/fei_multiexposure/README.md; experiments/mobio_mechanism_controls/results_summary.csv; experiments/mobio_correlation_controls/results_summary.csv.</a:t>
            </a:r>
          </a:p>
          <a:p>
            <a:r>
              <a:t>Configuration: configs/attacks/fei_key_pool_boundary.yaml. See reports/figures/README.md for figure captions and docs/ROADMAP.md for pending gates. Diagram symbols are schematic, not biometric examples.</a:t>
            </a:r>
          </a:p>
          <a:p>
            <a:r>
              <a:t>New pilot code freeze: d5f4e89. Configuration: configs/attacks/scheme_extension_pilot.yaml. Sources: experiments/scheme_extension_pilot/{results_summary,paired_uncertainty,equivalence_sensitivity,native_utility}.csv. SCface protocol and pilot freeze: 69a93e4; sources under experiments/scface_multiexposure and experiments/scface_scheme_extension_pilot. One-seed CPU pilots, 120-epoch cap; not a controlled ranking against earlier 400-epoch, three-seed studies. See figure_appendix.pdf for all figures, including native matching and uncertainty. Follow-up: experiments/scheme_followup_2026-09-18; 216 endpoints, two identity partitions, three model seeds. Pre-execution source/config hashes: execution_manifest.json; base commit 4352eeb, dirty working tree recorded. Primary sign-flip tests: Holm family 8; native gallery-label permutations: Holm family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Hidden keys and repeated biometric records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000" b="0">
                <a:solidFill>
                  <a:srgbClr val="222222"/>
                </a:solidFill>
                <a:latin typeface="Times New Roman"/>
              </a:defRPr>
            </a:pPr>
            <a:r>
              <a:t>Can multiple protected records reveal identity when keys remain hidden?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1064240" cy="2834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Fresh-key learned attacks: uncertainty remains; no equivalence claim.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Recurring transforms: large gains from multiple same-identity records.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</a:p>
          <a:p>
            <a:pPr>
              <a:lnSpc>
                <a:spcPct val="140000"/>
              </a:lnSpc>
              <a:spcAft>
                <a:spcPts val="0"/>
              </a:spcAft>
              <a:defRPr sz="1900" b="0">
                <a:solidFill>
                  <a:srgbClr val="222222"/>
                </a:solidFill>
                <a:latin typeface="Times New Roman"/>
              </a:defRPr>
            </a:pPr>
            <a:r>
              <a:t>Boundary location changes with the dataset and identity partition.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Four datasets; hidden-key protocols; matched MOBIO/FEI follow-up with 216 trained endpoints.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Experimental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2/10</a:t>
            </a:r>
          </a:p>
        </p:txBody>
      </p:sp>
      <p:pic>
        <p:nvPicPr>
          <p:cNvPr id="4" name="Picture 3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757" y="960120"/>
            <a:ext cx="826600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Train on separate identities. Reconstruct an embedding, then link to a held-out gallery.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Dataset and protection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3716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Identities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3716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Train/val/test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Embeddings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3716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1">
                <a:solidFill>
                  <a:srgbClr val="222222"/>
                </a:solidFill>
                <a:latin typeface="Times New Roman"/>
              </a:defRPr>
            </a:pPr>
            <a:r>
              <a:t>Variation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MOBIO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288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8288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90/30/30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1,799 / 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18288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LFW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860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2860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75/25/25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1,500 / 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860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In-the-wild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FEI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7432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27432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120/40/40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2,378 / 2,400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7432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Pose/expression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SCface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16459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130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3200400"/>
            <a:ext cx="210312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78/26/26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2,851 / 2,860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246888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Times New Roman"/>
              </a:defRPr>
            </a:pPr>
            <a:r>
              <a:t>Camera/distance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94760"/>
            <a:ext cx="11064240" cy="1691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BioHash: 128 bits; four datasets; includes a Haar-sign control on MOBIO.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MLP-Hash: 512 bits; MOBIO; paper-specified, not source-exact.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IoM-GRP: 300 codes (q=16); PolyProtect: 170 reals (m=5, overlap=2).</a:t>
            </a:r>
          </a:p>
          <a:p>
            <a:pPr>
              <a:lnSpc>
                <a:spcPct val="140000"/>
              </a:lnSpc>
              <a:spcAft>
                <a:spcPts val="0"/>
              </a:spcAft>
              <a:defRPr sz="1600" b="0">
                <a:solidFill>
                  <a:srgbClr val="222222"/>
                </a:solidFill>
                <a:latin typeface="Times New Roman"/>
              </a:defRPr>
            </a:pPr>
            <a:r>
              <a:t>Both: MOBIO/FEI three-seed, two-partition follow-up; SCface one-seed pilots.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10642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300" b="0">
                <a:solidFill>
                  <a:srgbClr val="222222"/>
                </a:solidFill>
                <a:latin typeface="Times New Roman"/>
              </a:defRPr>
            </a:pPr>
            <a:r>
              <a:t>SCface: mugshot gallery and visible surveillance probes; 9 detection failures, all identities eligible.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Set reconstruction and gallery linkage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4/10</a:t>
            </a:r>
          </a:p>
        </p:txBody>
      </p:sp>
      <p:pic>
        <p:nvPicPr>
          <p:cNvPr id="4" name="Picture 3" descr="fig_attack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798" y="960120"/>
            <a:ext cx="804192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Two aggregation paths; shared training objective; held-out identity linkage. Key values remain hidden.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Earlier three-seed key-pool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5/10</a:t>
            </a:r>
          </a:p>
        </p:txBody>
      </p:sp>
      <p:pic>
        <p:nvPicPr>
          <p:cNvPr id="4" name="Picture 3" descr="fig_result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10" y="960120"/>
            <a:ext cx="9512300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73 conditions from 12 earlier studies. New one-seed pilots are reported separately.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Mechanism and correlation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6/10</a:t>
            </a:r>
          </a:p>
        </p:txBody>
      </p:sp>
      <p:pic>
        <p:nvPicPr>
          <p:cNvPr id="4" name="Picture 3" descr="fig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4039"/>
            <a:ext cx="11064240" cy="40042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Slot identifiers are not key values. Coarse and fine correlation sweeps use separate partitions.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Replicated multi-record amplification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7/10</a:t>
            </a:r>
          </a:p>
        </p:txBody>
      </p:sp>
      <p:pic>
        <p:nvPicPr>
          <p:cNvPr id="4" name="Picture 3" descr="fig_followup_ampl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118" y="960120"/>
            <a:ext cx="10273284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MOBIO / FEI; IoM-GRP / PolyProtect; 3 model seeds x 2 identity partitions; matched 120-epoch caps.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Native linkage and radial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8/10</a:t>
            </a:r>
          </a:p>
        </p:txBody>
      </p:sp>
      <p:pic>
        <p:nvPicPr>
          <p:cNvPr id="4" name="Picture 3" descr="fig_followup_n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82544"/>
            <a:ext cx="11064240" cy="4847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Protected-gallery matching is distinct from learned linkage. Radial sensitivity does not establish natural norm leakage.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Genuine raw-input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9/10</a:t>
            </a:r>
          </a:p>
        </p:txBody>
      </p:sp>
      <p:pic>
        <p:nvPicPr>
          <p:cNvPr id="4" name="Picture 3" descr="fig_native_norm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82544"/>
            <a:ext cx="11064240" cy="4847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4,177 raw extractions verified. Separate scalar and SciPy checks reproduce native matching; stronger parameter policies remain untested.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2500" b="1">
                <a:solidFill>
                  <a:srgbClr val="222222"/>
                </a:solidFill>
                <a:latin typeface="Times New Roman"/>
              </a:defRPr>
            </a:pPr>
            <a:r>
              <a:t>Failure analysis: aggregation is not always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64808"/>
            <a:ext cx="11064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666666"/>
                </a:solidFill>
                <a:latin typeface="Times New Roman"/>
              </a:defRPr>
            </a:pPr>
            <a:r>
              <a:t>Research review draft | 18 September 2026 | 10/10</a:t>
            </a:r>
          </a:p>
        </p:txBody>
      </p:sp>
      <p:pic>
        <p:nvPicPr>
          <p:cNvPr id="4" name="Picture 3" descr="fig_followup_fail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836" y="960120"/>
            <a:ext cx="1007184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016752"/>
            <a:ext cx="110642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0"/>
              </a:spcAft>
              <a:defRPr sz="1200" b="0">
                <a:solidFill>
                  <a:srgbClr val="222222"/>
                </a:solidFill>
                <a:latin typeface="Times New Roman"/>
              </a:defRPr>
            </a:pPr>
            <a:r>
              <a:t>Original primary family unchanged. All 48 contrasts, including significant losses, are reported separately from historical exploration.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Hidden keys and repeated biometric records</dc:title>
  <dc:subject>Research review draft, 2026-09-18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